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4"/>
      <p:bold r:id="rId15"/>
      <p:italic r:id="rId16"/>
      <p:boldItalic r:id="rId17"/>
    </p:embeddedFont>
    <p:embeddedFont>
      <p:font typeface="Proxima Nova Extrabold" panose="02000506030000020004" pitchFamily="2" charset="0"/>
      <p:bold r:id="rId18"/>
      <p:italic r:id="rId19"/>
      <p:boldItalic r:id="rId20"/>
    </p:embeddedFont>
    <p:embeddedFont>
      <p:font typeface="Roboto Mono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365506-C25F-482D-8019-FACEB7F55A34}">
  <a:tblStyle styleId="{1B365506-C25F-482D-8019-FACEB7F5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77" d="100"/>
          <a:sy n="177" d="100"/>
        </p:scale>
        <p:origin x="3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1 - Architecture overview + problem statement +roadmap =&gt; Marina - done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2 - </a:t>
            </a:r>
            <a:r>
              <a:rPr lang="en-GB">
                <a:solidFill>
                  <a:schemeClr val="dk1"/>
                </a:solidFill>
              </a:rPr>
              <a:t>SDLC + CI/CD + finops =&gt; Marina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3 - Security, guardrails (harness) </a:t>
            </a:r>
            <a:r>
              <a:rPr lang="en-GB">
                <a:solidFill>
                  <a:schemeClr val="dk1"/>
                </a:solidFill>
              </a:rPr>
              <a:t>+ finops </a:t>
            </a:r>
            <a:r>
              <a:rPr lang="en-GB"/>
              <a:t>=&gt; Pavlo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Slide 4 - Infrastructure (why, how it works…)  + finops =&gt; Andrii -&gt; marina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5 - Observability </a:t>
            </a:r>
            <a:r>
              <a:rPr lang="en-GB">
                <a:solidFill>
                  <a:schemeClr val="dk1"/>
                </a:solidFill>
              </a:rPr>
              <a:t>+ finops </a:t>
            </a:r>
            <a:r>
              <a:rPr lang="en-GB"/>
              <a:t>=&gt; Andrii -&gt; Pavlo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Вітаю всіх! Сьогодні наша команда презентує результати хакатону з проєкту JobMatch.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На початку MVP AI-асистента Scout це  моноліт із зашитими API-ключами. Але при масштабуванні на перші 5 000 користувачів ми стикаємося з двома головними викликами: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>
                <a:solidFill>
                  <a:schemeClr val="dk1"/>
                </a:solidFill>
              </a:rPr>
              <a:t>Безпека (GDPR):</a:t>
            </a:r>
            <a:r>
              <a:rPr lang="en-GB" sz="1000">
                <a:solidFill>
                  <a:schemeClr val="dk1"/>
                </a:solidFill>
              </a:rPr>
              <a:t> Загроза витоку персональних даних з резюме через LLM.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>
                <a:solidFill>
                  <a:schemeClr val="dk1"/>
                </a:solidFill>
              </a:rPr>
              <a:t>Фінанси (FinOps):</a:t>
            </a:r>
            <a:r>
              <a:rPr lang="en-GB" sz="1000">
                <a:solidFill>
                  <a:schemeClr val="dk1"/>
                </a:solidFill>
              </a:rPr>
              <a:t> Неконтрольовані витрати на токени, що можуть швидко виснажити бюджет.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fb85456b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fb85456b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На цьому слайді ми бачимо картину еволюції платформи JobMatch. Це наш шлях від базового локального MVP до production-ready CI/CD рішення на базі AI Agent Harness.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Як ви бачите з таблиці  Критерій - Було / Стало, ми змінили підхід до інженерного контуру: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Інфраструктура та Деплоймент:</a:t>
            </a:r>
            <a:r>
              <a:rPr lang="en-GB" sz="1000">
                <a:solidFill>
                  <a:schemeClr val="dk1"/>
                </a:solidFill>
              </a:rPr>
              <a:t> Ми перейшли від ручного локального запуску через docker-compose до повністю автоматизованого GitOps процесу за допомогою FluxCD у хмарному середовищі GCP.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Інтеграція LLM та FinOps:</a:t>
            </a:r>
            <a:r>
              <a:rPr lang="en-GB" sz="1000">
                <a:solidFill>
                  <a:schemeClr val="dk1"/>
                </a:solidFill>
              </a:rPr>
              <a:t> Замість того, щоб розкидати прямі виклики до моделей по всьому коду, було впроваджено централізований проксі </a:t>
            </a:r>
            <a:r>
              <a:rPr lang="en-GB" sz="1000" b="1">
                <a:solidFill>
                  <a:schemeClr val="dk1"/>
                </a:solidFill>
              </a:rPr>
              <a:t>AgentGateway</a:t>
            </a:r>
            <a:r>
              <a:rPr lang="en-GB" sz="1000">
                <a:solidFill>
                  <a:schemeClr val="dk1"/>
                </a:solidFill>
              </a:rPr>
              <a:t>. Це дозволило нам не лише уніфікувати доступ, а й налаштувати FinOps-роутинг для суттєвої коштів.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Управління секретами:</a:t>
            </a:r>
            <a:r>
              <a:rPr lang="en-GB" sz="1000">
                <a:solidFill>
                  <a:schemeClr val="dk1"/>
                </a:solidFill>
              </a:rPr>
              <a:t> Позбивились хардкоду API-ключів. Тепер вони  ізольовані у Google Secret Manager та доставляються через External Secrets без доступу з боку прикладного коду.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Безпека (Security):</a:t>
            </a:r>
            <a:r>
              <a:rPr lang="en-GB" sz="1000">
                <a:solidFill>
                  <a:schemeClr val="dk1"/>
                </a:solidFill>
              </a:rPr>
              <a:t>Було додано маскування персональних даних (PII), захист від Prompt Injection на вході та Guardrails-фільтри на виході відповідей моделей.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>
                <a:solidFill>
                  <a:schemeClr val="dk1"/>
                </a:solidFill>
              </a:rPr>
              <a:t>Якість та Observability:</a:t>
            </a:r>
            <a:r>
              <a:rPr lang="en-GB" sz="1000">
                <a:solidFill>
                  <a:schemeClr val="dk1"/>
                </a:solidFill>
              </a:rPr>
              <a:t> Ручне тестування замінено на автоматизований пайплайн PromptOps із концепцією </a:t>
            </a:r>
            <a:r>
              <a:rPr lang="en-GB" sz="1000" b="1">
                <a:solidFill>
                  <a:schemeClr val="dk1"/>
                </a:solidFill>
              </a:rPr>
              <a:t>LLM-as-a-Judge</a:t>
            </a:r>
            <a:r>
              <a:rPr lang="en-GB" sz="1000">
                <a:solidFill>
                  <a:schemeClr val="dk1"/>
                </a:solidFill>
              </a:rPr>
              <a:t>, який блокує неякісні релізи ще на етапі CI/CD. Gafana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e4b0bd8c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e4b0bd8c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На цьому слайді представлена детальна схема нашого процесу безперервної інтеграції та розгортання (CI/CD).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В основі нашої архітектури лежить </a:t>
            </a:r>
            <a:r>
              <a:rPr lang="en-GB" b="1">
                <a:solidFill>
                  <a:schemeClr val="dk1"/>
                </a:solidFill>
              </a:rPr>
              <a:t>GitHub</a:t>
            </a:r>
            <a:r>
              <a:rPr lang="en-GB">
                <a:solidFill>
                  <a:schemeClr val="dk1"/>
                </a:solidFill>
              </a:rPr>
              <a:t>. Ми імплементували структуру </a:t>
            </a:r>
            <a:r>
              <a:rPr lang="en-GB" b="1">
                <a:solidFill>
                  <a:schemeClr val="dk1"/>
                </a:solidFill>
              </a:rPr>
              <a:t>монорепозиторію</a:t>
            </a:r>
            <a:r>
              <a:rPr lang="en-GB">
                <a:solidFill>
                  <a:schemeClr val="dk1"/>
                </a:solidFill>
              </a:rPr>
              <a:t> з чітким розділенням на три логічні блоки: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-GB">
                <a:solidFill>
                  <a:schemeClr val="dk1"/>
                </a:solidFill>
              </a:rPr>
              <a:t> (код додатків),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evals</a:t>
            </a:r>
            <a:r>
              <a:rPr lang="en-GB">
                <a:solidFill>
                  <a:schemeClr val="dk1"/>
                </a:solidFill>
              </a:rPr>
              <a:t> (тести штучного інтелекту) та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platform</a:t>
            </a:r>
            <a:r>
              <a:rPr lang="en-GB">
                <a:solidFill>
                  <a:schemeClr val="dk1"/>
                </a:solidFill>
              </a:rPr>
              <a:t> (налаштування інфраструктури). Саме в блоці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platform</a:t>
            </a:r>
            <a:r>
              <a:rPr lang="en-GB">
                <a:solidFill>
                  <a:schemeClr val="dk1"/>
                </a:solidFill>
              </a:rPr>
              <a:t> фізично розділені конфігурації для Dev та Prod кластерів.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Перший етап — це робота зі Stage-кластером.</a:t>
            </a:r>
            <a:r>
              <a:rPr lang="en-GB">
                <a:solidFill>
                  <a:schemeClr val="dk1"/>
                </a:solidFill>
              </a:rPr>
              <a:t> Процес запускається автоматично, коли розробник пушить зміни до гілки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-GB">
                <a:solidFill>
                  <a:schemeClr val="dk1"/>
                </a:solidFill>
              </a:rPr>
              <a:t>. Це тригерить пайплайн у GitHub Actions. Найголовніша особливість — пайплайн спочатку запускає якісні ворота (</a:t>
            </a:r>
            <a:r>
              <a:rPr lang="en-GB" b="1">
                <a:solidFill>
                  <a:schemeClr val="dk1"/>
                </a:solidFill>
              </a:rPr>
              <a:t>Quality Gates</a:t>
            </a:r>
            <a:r>
              <a:rPr lang="en-GB">
                <a:solidFill>
                  <a:schemeClr val="dk1"/>
                </a:solidFill>
              </a:rPr>
              <a:t>) на базі фреймворку </a:t>
            </a:r>
            <a:r>
              <a:rPr lang="en-GB" b="1">
                <a:solidFill>
                  <a:schemeClr val="dk1"/>
                </a:solidFill>
              </a:rPr>
              <a:t>LLM-as-a-Judge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Суддя запускається, якщо були зафіксовані зміни у папці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evals</a:t>
            </a:r>
            <a:r>
              <a:rPr lang="en-GB">
                <a:solidFill>
                  <a:schemeClr val="dk1"/>
                </a:solidFill>
              </a:rPr>
              <a:t>, і всього за 2–3 хвилини автоматично перевіряє відповіді AI-агента за критеріями: </a:t>
            </a:r>
            <a:r>
              <a:rPr lang="en-GB" i="1">
                <a:solidFill>
                  <a:schemeClr val="dk1"/>
                </a:solidFill>
              </a:rPr>
              <a:t>Relevance</a:t>
            </a:r>
            <a:r>
              <a:rPr lang="en-GB">
                <a:solidFill>
                  <a:schemeClr val="dk1"/>
                </a:solidFill>
              </a:rPr>
              <a:t> (релевантність), </a:t>
            </a:r>
            <a:r>
              <a:rPr lang="en-GB" i="1">
                <a:solidFill>
                  <a:schemeClr val="dk1"/>
                </a:solidFill>
              </a:rPr>
              <a:t>Tone</a:t>
            </a:r>
            <a:r>
              <a:rPr lang="en-GB">
                <a:solidFill>
                  <a:schemeClr val="dk1"/>
                </a:solidFill>
              </a:rPr>
              <a:t> (професійний тон) та </a:t>
            </a:r>
            <a:r>
              <a:rPr lang="en-GB" i="1">
                <a:solidFill>
                  <a:schemeClr val="dk1"/>
                </a:solidFill>
              </a:rPr>
              <a:t>Hallucination-free</a:t>
            </a:r>
            <a:r>
              <a:rPr lang="en-GB">
                <a:solidFill>
                  <a:schemeClr val="dk1"/>
                </a:solidFill>
              </a:rPr>
              <a:t>(відсутність галюцинацій). Якщо новий промпт не проходить цей тест, CI-пайплайн блокується.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Якщо ж тест успішний, і при цьому було змінено не лише промпт, а й код додатку, — запускається повна перезбірка Docker-образу. Далі CI-сервер виконує автоматизований коміт нового тегу у маніфести Helm-релізу в Git. На стороні кластера оператор </a:t>
            </a:r>
            <a:r>
              <a:rPr lang="en-GB" b="1">
                <a:solidFill>
                  <a:schemeClr val="dk1"/>
                </a:solidFill>
              </a:rPr>
              <a:t>FluxCD</a:t>
            </a:r>
            <a:r>
              <a:rPr lang="en-GB">
                <a:solidFill>
                  <a:schemeClr val="dk1"/>
                </a:solidFill>
              </a:rPr>
              <a:t> фіксує зміни та оновлює систему за стратегією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Revision</a:t>
            </a:r>
            <a:r>
              <a:rPr lang="en-GB">
                <a:solidFill>
                  <a:schemeClr val="dk1"/>
                </a:solidFill>
              </a:rPr>
              <a:t>. Це забезпечує нам колосальну динаміку розробки.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</a:rPr>
              <a:t>Другий етап зкщвгсешщт — для </a:t>
            </a:r>
            <a:r>
              <a:rPr lang="en-GB" sz="1000">
                <a:solidFill>
                  <a:schemeClr val="dk1"/>
                </a:solidFill>
              </a:rPr>
              <a:t>Production-середовища повністю виключили автоматичний деплой. Просування релізу відбувається виключно через створення Pull Request з гілки dev у main. Це гарантує обов'язковий етап Code Review та аудиту змін. Після злиття гілок, Prod-кластер підтягує оновлення, але з відмінністю: тут застосовується стратегія узгодження ChartVersion. Це означає, що система застосує зміни лише за умови підняття версії Helm-чарту розробником. Такий механізм слугує запобіжником від випадкового розгортання неперевірених конфігурацій.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Підкласти ключ в пайплайні prompt change false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d623b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d623b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highlight>
                  <a:schemeClr val="lt1"/>
                </a:highlight>
              </a:rPr>
              <a:t>[0:00 – 0:30] Вступ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MVP нашого стартапу JobMatch працював локально, з прямими викликами LLM відповідно викоритовувался свій SDK під кожного провайдера.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Щоб вирости якісно до рівня Production Reasdy - ми побудували </a:t>
            </a: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AI Harness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 — цілісний інженерний контур навколо AI-агента, який взяв на себе безпеку, стабільність, забезпечення доступності та оптимізацію витрат.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highlight>
                  <a:schemeClr val="lt1"/>
                </a:highlight>
              </a:rPr>
              <a:t>[0:30 – 1:30] Блок 1: Agent Gateway (Envoy Proxy)</a:t>
            </a:r>
            <a:endParaRPr sz="13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Центральним елементом нашого контуру є шлюз </a:t>
            </a: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Agent Gateway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 на базі Envoy Proxy. Його роль - </a:t>
            </a: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route, secure, observe та govern.</a:t>
            </a:r>
            <a:endParaRPr sz="1000" b="1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Він реалізує 5 фундаментальних речей: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Централізація трафіку: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Ми створили єдину точку входу для всіх LLM-викликів через OpenAI-сумісний протокол. Жодних розрізнених SDK.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Ізоляція секретів: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API-ключі перетягнуто у Google secrets і завдяки External Secrets Operator вони інжектуються виключно в захищеному просторі шлюзу, аплікація не має доступу до ключів.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PII-маскування: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Email, телефони та лінки на соцмережі автоматично маскуються шлюзом до того, як запит потрапить у хмару провайдера.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Guardrails: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Шлюз фільтрує небезпечні інструкції (Prompt Injection) на вході та блокує токсичні відповіді LLM на виході (key words).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Fallback routing: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Для високого SLA ми реалізували гібридну схему стійкості: активний моніторинг здоров'я на проксі (health@proxy) миттєво перемикає трафік при збоях API, а клієнтський рівень (retry@client) робить прозорий ретрай отримавши помилку від проксі"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  <a:highlight>
                  <a:schemeClr val="lt1"/>
                </a:highlight>
              </a:rPr>
              <a:t>[1:30 – 2:15] Блок 2: Smart Routing &amp; FinOps</a:t>
            </a:r>
            <a:endParaRPr sz="13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Ми відмовилися від використання однієї дорогої моделі для всього. Клієнт (api) визначає складність завдання та додає заголовок </a:t>
            </a:r>
            <a:r>
              <a:rPr lang="en-GB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x-gateway-task-name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.   Шлюз аналізує цей заголовок і динамічно розподіляє запити: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80% запитів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прості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en-GB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job_match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) спрямовуються на наддешеву </a:t>
            </a:r>
            <a:r>
              <a:rPr lang="en-GB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Gemini 2.5 Flash Lite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000" b="1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20% запитів</a:t>
            </a:r>
            <a:r>
              <a:rPr lang="en-GB" sz="1000">
                <a:solidFill>
                  <a:schemeClr val="dk1"/>
                </a:solidFill>
                <a:highlight>
                  <a:schemeClr val="lt1"/>
                </a:highlight>
              </a:rPr>
              <a:t> - звичайні по складності 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(парсин резюме) на більш розумну модель </a:t>
            </a:r>
            <a:r>
              <a:rPr lang="en-GB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Claude Haiku 4.5</a:t>
            </a:r>
            <a:endParaRPr sz="1000" b="1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Використані імена існуючої функцій </a:t>
            </a:r>
            <a:r>
              <a:rPr lang="en-GB" sz="9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job_match - llm-for-simple-task. Все інше (cv_extract) по дефолту на llm-for-complex-task </a:t>
            </a:r>
            <a:r>
              <a:rPr lang="en-GB" sz="900" i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Claude Haiku 4.5</a:t>
            </a:r>
            <a:endParaRPr sz="1000" b="1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Математика економії: замість $2100 на місяць за чистий Claude Sonnet (із оригінального коду MVP), ми витрачаємо всього $190. Це дозволило нам знизити вартість обслуговування користувача (Unit Cost) </a:t>
            </a: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в 11 разів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 та отримати </a:t>
            </a:r>
            <a:r>
              <a:rPr lang="en-GB" sz="1000" b="1" i="1">
                <a:solidFill>
                  <a:schemeClr val="dk1"/>
                </a:solidFill>
                <a:highlight>
                  <a:schemeClr val="lt1"/>
                </a:highlight>
              </a:rPr>
              <a:t>91% чистої економії</a:t>
            </a:r>
            <a:r>
              <a:rPr lang="en-GB" sz="1000" i="1">
                <a:solidFill>
                  <a:schemeClr val="dk1"/>
                </a:solidFill>
                <a:highlight>
                  <a:schemeClr val="lt1"/>
                </a:highlight>
              </a:rPr>
              <a:t> бюджету!"</a:t>
            </a:r>
            <a:endParaRPr sz="1000"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Чого немає на слайді: fallback web crawlers вимкненого, використання LLM моделей для  веб-пошуку коштує дуже дорого та не піддається точній естімаціїї. 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Додаткові: 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Sonnet 4: $3.00 input / $15.00 output per 1M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Haiku 4.5: $1.00 input / $5.00 output per 1M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Gemini 2.5 Flash Lite: $0.10 input / $0.40 output per 1M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Перерахунок (100k запитів, 300M input / 80M output токенів):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chemeClr val="lt1"/>
                </a:highlight>
              </a:rPr>
              <a:t>InputOutputРазомPure Sonnet 4300M × $3 = $90080M × $15 = $1,200$2,100Gemini Lite 80k240M × $0.10 = $2464M × $0.40 = $25.60$49.60Haiku 20k60M × $1.00 = $6016M × $5 = $80$140Гібрид разом$189.60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fd623b6a0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fd623b6a0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Для </a:t>
            </a:r>
            <a:r>
              <a:rPr lang="en-GB" sz="1000" b="1">
                <a:solidFill>
                  <a:schemeClr val="dk1"/>
                </a:solidFill>
              </a:rPr>
              <a:t>середовища розробки (Stage)</a:t>
            </a:r>
            <a:r>
              <a:rPr lang="en-GB" sz="1000">
                <a:solidFill>
                  <a:schemeClr val="dk1"/>
                </a:solidFill>
              </a:rPr>
              <a:t>  Увесь контур розробки, включаючи бази даних та mock-сервіси штучного інтелекту, розгорнуто на базі однієї віртуальної машини GCP класу e2-standard-2. Як рантайм ми обрали полегшений локальний кластер k3d у Docker, що дозволило нам ізолювати всі сервіси розробки на одному хості всього за </a:t>
            </a:r>
            <a:r>
              <a:rPr lang="en-GB" sz="1000" b="1">
                <a:solidFill>
                  <a:schemeClr val="dk1"/>
                </a:solidFill>
              </a:rPr>
              <a:t>48 доларів на місяць</a:t>
            </a:r>
            <a:r>
              <a:rPr lang="en-GB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Проте для </a:t>
            </a:r>
            <a:r>
              <a:rPr lang="en-GB" sz="1000" b="1">
                <a:solidFill>
                  <a:schemeClr val="dk1"/>
                </a:solidFill>
              </a:rPr>
              <a:t>prod середовища</a:t>
            </a:r>
            <a:r>
              <a:rPr lang="en-GB" sz="1000">
                <a:solidFill>
                  <a:schemeClr val="dk1"/>
                </a:solidFill>
              </a:rPr>
              <a:t> пріоритетом є безкомпромісна стабільність та захист. Тут ми переходимо на керований хмарний рантайм </a:t>
            </a:r>
            <a:r>
              <a:rPr lang="en-GB" sz="1000" b="1">
                <a:solidFill>
                  <a:schemeClr val="dk1"/>
                </a:solidFill>
              </a:rPr>
              <a:t>GKE Autopilot</a:t>
            </a:r>
            <a:r>
              <a:rPr lang="en-GB" sz="1000">
                <a:solidFill>
                  <a:schemeClr val="dk1"/>
                </a:solidFill>
              </a:rPr>
              <a:t> у мультизональній конфігурації високої доступності (High Availability), де оплата здійснюється виключно за фактичні ресурси подів, а за простоювання вузлів ми платимо нуль.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Периметр безпеки на межі мережі захищено зв'язкою Google Cloud Load Balancing та </a:t>
            </a:r>
            <a:r>
              <a:rPr lang="en-GB" sz="1000" b="1">
                <a:solidFill>
                  <a:schemeClr val="dk1"/>
                </a:solidFill>
              </a:rPr>
              <a:t>Cloud Armor WAF</a:t>
            </a:r>
            <a:r>
              <a:rPr lang="en-GB" sz="1000">
                <a:solidFill>
                  <a:schemeClr val="dk1"/>
                </a:solidFill>
              </a:rPr>
              <a:t>, який блокує спроби Prompt Injection та атаки з OWASP Top-10 на рівні L7 до їх потрапляння в кластер.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У Data-шарі ми розділили стан застосунку: структуровані дані зберігаються в PostgreSQL Cloud SQL, а семантична пам'ять  в </a:t>
            </a:r>
            <a:r>
              <a:rPr lang="en-GB" sz="1000" b="1">
                <a:solidFill>
                  <a:schemeClr val="dk1"/>
                </a:solidFill>
              </a:rPr>
              <a:t>базі даних Qdrant</a:t>
            </a:r>
            <a:r>
              <a:rPr lang="en-GB" sz="1000">
                <a:solidFill>
                  <a:schemeClr val="dk1"/>
                </a:solidFill>
              </a:rPr>
              <a:t>. Це повністю нівелювало витрати на дорогі диски SSD PVC, Тепер давайте поглянемо, як ці інженерні рішення трансформувалися у конкретні фінансові показники на наступному слайді.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fd623b6a0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fd623b6a0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Для промислового середовища розрахунок базується на сценарії у 100 тисяч запитів. Завдяки переходу на </a:t>
            </a:r>
            <a:r>
              <a:rPr lang="en-GB" sz="1000" b="1">
                <a:solidFill>
                  <a:schemeClr val="dk1"/>
                </a:solidFill>
              </a:rPr>
              <a:t>GKE Autopilot</a:t>
            </a:r>
            <a:r>
              <a:rPr lang="en-GB" sz="1000">
                <a:solidFill>
                  <a:schemeClr val="dk1"/>
                </a:solidFill>
              </a:rPr>
              <a:t>, ми платимо лише за  запитані ресурси запущених подів, тобто ми отримуємо нуль доларів витрат за простій кластера. Забезпечення повної відмовостійкості для нашого API, фронтенду та шлюзу Envoy сумарно коштує всього </a:t>
            </a:r>
            <a:r>
              <a:rPr lang="en-GB" sz="1000" b="1">
                <a:solidFill>
                  <a:schemeClr val="dk1"/>
                </a:solidFill>
              </a:rPr>
              <a:t>93 долари та 74 центи</a:t>
            </a:r>
            <a:r>
              <a:rPr lang="en-GB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Завдяки бездержавній архітектурі векторного сховища Qdrant, витрати на диски для семантичної пам'яті дорівнюють нулю. Кешування у керованому сервісі Redis додає до бюджету </a:t>
            </a:r>
            <a:r>
              <a:rPr lang="en-GB" sz="1000" b="1">
                <a:solidFill>
                  <a:schemeClr val="dk1"/>
                </a:solidFill>
              </a:rPr>
              <a:t>9 доларів 27 центів</a:t>
            </a:r>
            <a:r>
              <a:rPr lang="en-GB" sz="1000">
                <a:solidFill>
                  <a:schemeClr val="dk1"/>
                </a:solidFill>
              </a:rPr>
              <a:t>. Решта витрат розподілена між балансувальником, політиками безпеки Cloud Armor WAF та трафіком. Важливо, що фіксована плата за керування кластером у розмірі 73 доларів повністю покривається безкоштовним лімітом від Google.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Як результат, загальна вартість продакшену становить </a:t>
            </a:r>
            <a:r>
              <a:rPr lang="en-GB" sz="1000" b="1">
                <a:solidFill>
                  <a:schemeClr val="dk1"/>
                </a:solidFill>
              </a:rPr>
              <a:t>усього 138 доларів та 26 центів</a:t>
            </a:r>
            <a:r>
              <a:rPr lang="en-GB" sz="1000">
                <a:solidFill>
                  <a:schemeClr val="dk1"/>
                </a:solidFill>
              </a:rPr>
              <a:t>. Ми уклалися в сумарний бюджет менше двохсот доларів на місяць за обидва контури, отримавши повністю захищене хмарне середовище, готове до масштабування.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00a6af85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00a6af85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Також хочему показати практичну демонстрацію нашого контуру </a:t>
            </a:r>
            <a:r>
              <a:rPr lang="en-GB" sz="1000" b="1">
                <a:solidFill>
                  <a:schemeClr val="dk1"/>
                </a:solidFill>
              </a:rPr>
              <a:t>Observability</a:t>
            </a:r>
            <a:r>
              <a:rPr lang="en-GB" sz="1000">
                <a:solidFill>
                  <a:schemeClr val="dk1"/>
                </a:solidFill>
              </a:rPr>
              <a:t> — це дашборд із Grafana, який збирає та візуалізує метрики з нашого централізованого шлюзу </a:t>
            </a:r>
            <a:r>
              <a:rPr lang="en-GB" sz="1000" b="1">
                <a:solidFill>
                  <a:schemeClr val="dk1"/>
                </a:solidFill>
              </a:rPr>
              <a:t>AgentGateway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 b="1">
                <a:solidFill>
                  <a:schemeClr val="dk1"/>
                </a:solidFill>
              </a:rPr>
              <a:t>Ліва частина (Tokens usage — Input / Output):</a:t>
            </a:r>
            <a:r>
              <a:rPr lang="en-GB" sz="1000">
                <a:solidFill>
                  <a:schemeClr val="dk1"/>
                </a:solidFill>
              </a:rPr>
              <a:t> Ці два графіки відображають сумарне споживання токенів на вході та виході у розрізі кожної моделі. Завдяки цим метрикам ми бачимо роботу нашої FinOps-стратегії динамічного роутингу в дії. Зверніть увагу: найбільший об'єм (помаранчева зона) займає дешева модель gpt-5.4-nano (або gemini-2.5-flash-lite), на яку шлюз скидає 80% рутинних завдань. Дорожчі моделі, такі як Claude, підключаються лише точково. Це дає нам можливість у режимі реального часу бачити фінансовий </a:t>
            </a:r>
            <a:r>
              <a:rPr lang="en-GB" sz="1000" i="1">
                <a:solidFill>
                  <a:schemeClr val="dk1"/>
                </a:solidFill>
              </a:rPr>
              <a:t>burn rate </a:t>
            </a:r>
            <a:r>
              <a:rPr lang="en-GB" sz="1000">
                <a:solidFill>
                  <a:schemeClr val="dk1"/>
                </a:solidFill>
              </a:rPr>
              <a:t>та прогнозувати витрати на місяць наперед.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</a:rPr>
              <a:t>Правий верхній графік (LLM latency):</a:t>
            </a:r>
            <a:r>
              <a:rPr lang="en-GB" sz="1000">
                <a:solidFill>
                  <a:schemeClr val="dk1"/>
                </a:solidFill>
              </a:rPr>
              <a:t> Це тривалості виконання запитів різними LLM-провайдерами (на базі гістограми з вікном у 5 хвилин). Для нас це критично для відстеження SLA та користувацького досвіду (UX). Ми бачимо, які моделі відповідають миттєво, а які мають затримки. </a:t>
            </a:r>
            <a:r>
              <a:rPr lang="en-GB" sz="1000" b="1">
                <a:solidFill>
                  <a:schemeClr val="dk1"/>
                </a:solidFill>
              </a:rPr>
              <a:t>Правий нижній графік (Guardrail: Rejects):</a:t>
            </a:r>
            <a:r>
              <a:rPr lang="en-GB" sz="1000">
                <a:solidFill>
                  <a:schemeClr val="dk1"/>
                </a:solidFill>
              </a:rPr>
              <a:t> Рахує кількість заблокованих запитів із дією "Reject". Графік чітко фіксує спроби порушення політик. Червона лінія показує, як о 15:30 відбувся сплеск заблокованих запитів на етапі Input (Request). Це означає, що </a:t>
            </a:r>
            <a:r>
              <a:rPr lang="en-GB" sz="1000" b="1">
                <a:solidFill>
                  <a:schemeClr val="dk1"/>
                </a:solidFill>
              </a:rPr>
              <a:t>AgentGateway</a:t>
            </a:r>
            <a:r>
              <a:rPr lang="en-GB" sz="1000">
                <a:solidFill>
                  <a:schemeClr val="dk1"/>
                </a:solidFill>
              </a:rPr>
              <a:t> успішно виявив та заблокував атаки типу </a:t>
            </a:r>
            <a:r>
              <a:rPr lang="en-GB" sz="1000" i="1">
                <a:solidFill>
                  <a:schemeClr val="dk1"/>
                </a:solidFill>
              </a:rPr>
              <a:t>Prompt Injection</a:t>
            </a:r>
            <a:r>
              <a:rPr lang="en-GB" sz="1000">
                <a:solidFill>
                  <a:schemeClr val="dk1"/>
                </a:solidFill>
              </a:rPr>
              <a:t> </a:t>
            </a:r>
            <a:r>
              <a:rPr lang="en-GB" sz="1000">
                <a:solidFill>
                  <a:schemeClr val="accent3"/>
                </a:solidFill>
              </a:rPr>
              <a:t>а</a:t>
            </a:r>
            <a:r>
              <a:rPr lang="en-GB" sz="1000">
                <a:solidFill>
                  <a:schemeClr val="dk1"/>
                </a:solidFill>
              </a:rPr>
              <a:t>Наявність горизонтальної лінії на позначці 6 свідчить, що загрозу локалізовано, </a:t>
            </a:r>
            <a:r>
              <a:rPr lang="en-GB" sz="1000" b="1">
                <a:solidFill>
                  <a:schemeClr val="dk1"/>
                </a:solidFill>
              </a:rPr>
              <a:t>Підсумовуючи:</a:t>
            </a:r>
            <a:r>
              <a:rPr lang="en-GB" sz="1000">
                <a:solidFill>
                  <a:schemeClr val="dk1"/>
                </a:solidFill>
              </a:rPr>
              <a:t> Завдяки інтеграції Prometheus та Grafana навколо нашого AI Harness контуру, ми ліквідували головну проблему сучасних AI-систем "сліпу зону".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Мін набор ментрик token usage promt injection latency plan alert imperative way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043e22b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043e22b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043e22b7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043e22b7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43e22b7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043e22b7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043e22b7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043e22b7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Screenshot 2026-06-30 at 14.03.22.png"/>
          <p:cNvPicPr preferRelativeResize="0"/>
          <p:nvPr/>
        </p:nvPicPr>
        <p:blipFill rotWithShape="1">
          <a:blip r:embed="rId3">
            <a:alphaModFix/>
          </a:blip>
          <a:srcRect t="17448" b="17448"/>
          <a:stretch/>
        </p:blipFill>
        <p:spPr>
          <a:xfrm>
            <a:off x="0" y="3031800"/>
            <a:ext cx="9144000" cy="211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62850" y="33347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Happy Deploys</a:t>
            </a:r>
            <a:endParaRPr/>
          </a:p>
        </p:txBody>
      </p:sp>
      <p:pic>
        <p:nvPicPr>
          <p:cNvPr id="61" name="Google Shape;61;p13" title="Screenshot 2026-06-30 at 14.03.22.png"/>
          <p:cNvPicPr preferRelativeResize="0"/>
          <p:nvPr/>
        </p:nvPicPr>
        <p:blipFill rotWithShape="1">
          <a:blip r:embed="rId3">
            <a:alphaModFix/>
          </a:blip>
          <a:srcRect t="17448" b="17448"/>
          <a:stretch/>
        </p:blipFill>
        <p:spPr>
          <a:xfrm>
            <a:off x="0" y="0"/>
            <a:ext cx="9144000" cy="297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662850" y="14097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AI JOB SEARCHER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63" name="Google Shape;63;p13" title="Screenshot 2026-07-02 at 16.55.00.png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21341" y="-395387"/>
            <a:ext cx="9186699" cy="89660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662850" y="1443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AI JOB SEARCHER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662850" y="33347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Happy Deploys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 title="Screenshot 2026-06-30 at 14.03.22.png"/>
          <p:cNvPicPr preferRelativeResize="0"/>
          <p:nvPr/>
        </p:nvPicPr>
        <p:blipFill rotWithShape="1">
          <a:blip r:embed="rId4">
            <a:alphaModFix/>
          </a:blip>
          <a:srcRect t="17448" b="17448"/>
          <a:stretch/>
        </p:blipFill>
        <p:spPr>
          <a:xfrm>
            <a:off x="8155500" y="4397051"/>
            <a:ext cx="708625" cy="3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Screenshot 2026-06-30 at 14.07.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3475"/>
            <a:ext cx="8839199" cy="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535700" y="240375"/>
            <a:ext cx="8397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Шлях до production-ready CI/CD із AI Agent Harness</a:t>
            </a:r>
            <a:endParaRPr sz="26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900" y="1091825"/>
            <a:ext cx="3903276" cy="39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152400" y="298150"/>
            <a:ext cx="73761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CI/CD Пайплайн та GitOps Реліз-Процес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79" name="Google Shape;79;p15" title="Screenshot 2026-06-28 at 14.21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4350" y="1062100"/>
            <a:ext cx="9352698" cy="384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152400" y="298150"/>
            <a:ext cx="73761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AI Harness Engineering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16250" y="1184800"/>
            <a:ext cx="4355700" cy="28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B0B0B"/>
                </a:solidFill>
              </a:rPr>
              <a:t>            Agent Gateway (Envoy Proxy)</a:t>
            </a:r>
            <a:endParaRPr sz="1200"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98781"/>
                </a:solidFill>
              </a:rPr>
              <a:t>              </a:t>
            </a:r>
            <a:r>
              <a:rPr lang="en-GB" sz="850">
                <a:solidFill>
                  <a:srgbClr val="898781"/>
                </a:solidFill>
              </a:rPr>
              <a:t>route · secure · observe · govern</a:t>
            </a:r>
            <a:endParaRPr sz="850">
              <a:solidFill>
                <a:srgbClr val="89878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89878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Централізація трафіку</a:t>
            </a:r>
            <a:endParaRPr sz="1250"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Єдина точка входу для всіх LLM-викликів, OpenAI-сумісний протокол</a:t>
            </a:r>
            <a:endParaRPr sz="1050">
              <a:solidFill>
                <a:srgbClr val="52514E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Ізоляція секретів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API-ключі не доступні application pods, External Secrets інжектування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PII-маскування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Email, телефони, лінки на соц. мережі маскуються</a:t>
            </a:r>
            <a:endParaRPr sz="85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Guardrails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Фільтрація небезпечних інструкцій до LLM, фільтрація токсичних відповідей LLM</a:t>
            </a:r>
            <a:endParaRPr sz="85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Fallback routing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Гібридна схема (health@proxy + retry@client)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610050" y="1184800"/>
            <a:ext cx="44169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B0B0B"/>
                </a:solidFill>
                <a:highlight>
                  <a:srgbClr val="FCFCFB"/>
                </a:highlight>
              </a:rPr>
              <a:t>         </a:t>
            </a:r>
            <a:r>
              <a:rPr lang="en-GB" sz="1200">
                <a:solidFill>
                  <a:srgbClr val="0B0B0B"/>
                </a:solidFill>
              </a:rPr>
              <a:t>    Smart Routing / FinOps</a:t>
            </a:r>
            <a:endParaRPr sz="1200"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B0B0B"/>
                </a:solidFill>
              </a:rPr>
              <a:t>           </a:t>
            </a:r>
            <a:r>
              <a:rPr lang="en-GB" sz="850">
                <a:solidFill>
                  <a:srgbClr val="898781"/>
                </a:solidFill>
              </a:rPr>
              <a:t> за заголовком </a:t>
            </a:r>
            <a:r>
              <a:rPr lang="en-GB" sz="850">
                <a:solidFill>
                  <a:schemeClr val="dk1"/>
                </a:solidFill>
              </a:rPr>
              <a:t>x-gateway-task-name</a:t>
            </a: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B0B0B"/>
                </a:solidFill>
                <a:highlight>
                  <a:srgbClr val="FCFCFB"/>
                </a:highlight>
              </a:rPr>
              <a:t>Безліч варіантів маршрутизації</a:t>
            </a: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52514E"/>
                </a:solidFill>
                <a:highlight>
                  <a:srgbClr val="FCFCFB"/>
                </a:highlight>
              </a:rPr>
              <a:t>Формується на клієнті, маршрутизується на шлюзі</a:t>
            </a:r>
            <a:endParaRPr sz="85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/>
              <a:t>Gemini 2.5 Flash Lite - прості запити </a:t>
            </a:r>
            <a:r>
              <a:rPr lang="en-GB" sz="900"/>
              <a:t>80%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850"/>
              <a:t>Claude Haiku 4.5 - звичайні запити </a:t>
            </a:r>
            <a:r>
              <a:rPr lang="en-GB" sz="900"/>
              <a:t>20%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B0B0B"/>
              </a:solidFill>
              <a:highlight>
                <a:srgbClr val="FCFCFB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52514E"/>
              </a:solidFill>
              <a:highlight>
                <a:srgbClr val="FCFCFB"/>
              </a:highlight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116045"/>
            <a:ext cx="650025" cy="69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075" y="1186725"/>
            <a:ext cx="543040" cy="5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4722714" y="2499761"/>
            <a:ext cx="1645500" cy="4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730660" y="2755587"/>
            <a:ext cx="423900" cy="423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075" y="2875025"/>
            <a:ext cx="2674075" cy="12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2350" y="3279625"/>
            <a:ext cx="1211291" cy="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4692150" y="1035900"/>
            <a:ext cx="4842900" cy="3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accent5"/>
                </a:solidFill>
              </a:rPr>
              <a:t>Prod</a:t>
            </a:r>
            <a:endParaRPr sz="13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Обчислення:</a:t>
            </a:r>
            <a:endParaRPr sz="13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GKE Autopilot у мультизональній конфігурації 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Платимо лише за запущені поди ($0 за простій)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Рівень збереження даних (Data Layer):</a:t>
            </a:r>
            <a:endParaRPr sz="1300" b="1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PostgreSQL (Cloud SQL) — стан системи.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Stateless Qdrant DB — семантична пам'ять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(Без дорогих SSD PVC дисків, економія FinOps).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/>
              <a:t>Периметр безпеки мережі:</a:t>
            </a:r>
            <a:r>
              <a:rPr lang="en-GB" sz="1300"/>
              <a:t> </a:t>
            </a:r>
            <a:endParaRPr sz="13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Google Cloud Load Balancing + Cloud Armor WAF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Захист L7 та OWASP Top-10</a:t>
            </a:r>
            <a:endParaRPr sz="1200"/>
          </a:p>
        </p:txBody>
      </p:sp>
      <p:sp>
        <p:nvSpPr>
          <p:cNvPr id="105" name="Google Shape;105;p18"/>
          <p:cNvSpPr txBox="1"/>
          <p:nvPr/>
        </p:nvSpPr>
        <p:spPr>
          <a:xfrm>
            <a:off x="152400" y="298150"/>
            <a:ext cx="73761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Infrastructure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52400" y="1035900"/>
            <a:ext cx="4008600" cy="4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accent5"/>
                </a:solidFill>
              </a:rPr>
              <a:t>Stage</a:t>
            </a:r>
            <a:endParaRPr sz="1300" b="1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Обчислення та Кластер: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Одна віртуальна машина GCP </a:t>
            </a:r>
            <a:r>
              <a:rPr lang="en-GB" sz="1200" b="1"/>
              <a:t>e2-standard-2</a:t>
            </a:r>
            <a:r>
              <a:rPr lang="en-GB" sz="1200"/>
              <a:t> (2 vCPU, 8 ГБ RAM).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Локальний полегшений рантайм </a:t>
            </a:r>
            <a:r>
              <a:rPr lang="en-GB" sz="1200" b="1"/>
              <a:t>k3d</a:t>
            </a:r>
            <a:r>
              <a:rPr lang="en-GB" sz="1200"/>
              <a:t> (Kubernetes in Docker).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Рівень даних та AI (Data Layer):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Ізоляція всіх компонентів (PostgreSQL, Redis, Qdrant, mock-LLM) в єдиному контурі.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Економічність (FinOps):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Усі сервіси розробки працюють на одному хості </a:t>
            </a:r>
            <a:r>
              <a:rPr lang="en-GB" sz="1200" b="1">
                <a:solidFill>
                  <a:schemeClr val="accent5"/>
                </a:solidFill>
              </a:rPr>
              <a:t>за ~$48/місяць</a:t>
            </a:r>
            <a:r>
              <a:rPr lang="en-GB" sz="1200"/>
              <a:t>. Майже нульові витрати на оркестрацію.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1F232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152400" y="298150"/>
            <a:ext cx="8669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Infrastructure - структура місячних витрат (GCP)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aphicFrame>
        <p:nvGraphicFramePr>
          <p:cNvPr id="112" name="Google Shape;112;p19"/>
          <p:cNvGraphicFramePr/>
          <p:nvPr/>
        </p:nvGraphicFramePr>
        <p:xfrm>
          <a:off x="231075" y="1218388"/>
          <a:ext cx="5468750" cy="2377260"/>
        </p:xfrm>
        <a:graphic>
          <a:graphicData uri="http://schemas.openxmlformats.org/drawingml/2006/table">
            <a:tbl>
              <a:tblPr>
                <a:noFill/>
                <a:tableStyleId>{1B365506-C25F-482D-8019-FACEB7F55A34}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Компонент інфраструктури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Вартість/місяць 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GKE Autopilot Compute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93.74 </a:t>
                      </a:r>
                      <a:r>
                        <a:rPr lang="en-GB"/>
                        <a:t>$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GCP Memorystore for Redis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9.27 </a:t>
                      </a:r>
                      <a:r>
                        <a:rPr lang="en-GB"/>
                        <a:t>$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Cloud Load Balancing (GCLB)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18.25 </a:t>
                      </a:r>
                      <a:r>
                        <a:rPr lang="en-GB"/>
                        <a:t>$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Google Cloud Armor + WAF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7.00 </a:t>
                      </a:r>
                      <a:r>
                        <a:rPr lang="en-GB"/>
                        <a:t>$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Трафік та Логування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10.00 </a:t>
                      </a:r>
                      <a:r>
                        <a:rPr lang="en-GB"/>
                        <a:t>$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" name="Google Shape;113;p19"/>
          <p:cNvSpPr txBox="1"/>
          <p:nvPr/>
        </p:nvSpPr>
        <p:spPr>
          <a:xfrm>
            <a:off x="5974800" y="160660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Proxima Nova"/>
                <a:ea typeface="Proxima Nova"/>
                <a:cs typeface="Proxima Nova"/>
                <a:sym typeface="Proxima Nova"/>
              </a:rPr>
              <a:t>ЗАГАЛЬНА ВАРТІСТЬ ІНФРАСТРУКТУРИ ПРОДАКШНУ:</a:t>
            </a:r>
            <a:endParaRPr sz="20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203850" y="2714800"/>
            <a:ext cx="25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~$138.26 / МІСЯЦЬ</a:t>
            </a:r>
            <a:endParaRPr sz="2000">
              <a:solidFill>
                <a:schemeClr val="accent5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52400" y="3746975"/>
            <a:ext cx="5404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rgbClr val="1F2328"/>
                </a:solidFill>
                <a:highlight>
                  <a:srgbClr val="FFFFFF"/>
                </a:highlight>
              </a:rPr>
              <a:t>при цьому фіксована плата за керування кластером у розмірі $73.00/місяць повністю покривається безкоштовним лімітом GKE Autopilot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152400" y="298150"/>
            <a:ext cx="86697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Observability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121" name="Google Shape;121;p2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0250"/>
            <a:ext cx="9143999" cy="399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Demo - Evals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.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7997275" cy="26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894473"/>
            <a:ext cx="7997275" cy="66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Demo - GUI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6" name="Google Shape;136;p22" title="demo-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969986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 title="demo-0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2875" y="1152475"/>
            <a:ext cx="320903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Demo - Model Fallback @ Agent Gateway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demo-05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2788"/>
            <a:ext cx="2690700" cy="278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035078"/>
            <a:ext cx="2690700" cy="46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demo-0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3925" y="1182788"/>
            <a:ext cx="56383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 title="demo-0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3925" y="1890238"/>
            <a:ext cx="5638375" cy="1798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900">
                <a:solidFill>
                  <a:schemeClr val="dk2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Demo - Prompt Injection</a:t>
            </a:r>
            <a:endParaRPr sz="2900">
              <a:solidFill>
                <a:schemeClr val="dk2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645628" cy="1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 title="demo-1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700" y="1288785"/>
            <a:ext cx="4812600" cy="134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title="demo-1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9700" y="2710675"/>
            <a:ext cx="4812600" cy="1048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Macintosh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Courier New</vt:lpstr>
      <vt:lpstr>Proxima Nova</vt:lpstr>
      <vt:lpstr>Proxima Nova Extrabold</vt:lpstr>
      <vt:lpstr>Arial</vt:lpstr>
      <vt:lpstr>Roboto Mono</vt:lpstr>
      <vt:lpstr>Spearmint</vt:lpstr>
      <vt:lpstr>AI JOB SEARCHER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- Evals</vt:lpstr>
      <vt:lpstr>Demo - GUI</vt:lpstr>
      <vt:lpstr>Demo - Model Fallback @ Agent Gateway</vt:lpstr>
      <vt:lpstr>Demo - Prompt Injection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Pavel Okhrimenko (PE)</cp:lastModifiedBy>
  <cp:revision>1</cp:revision>
  <dcterms:modified xsi:type="dcterms:W3CDTF">2026-09-03T10:38:21Z</dcterms:modified>
</cp:coreProperties>
</file>